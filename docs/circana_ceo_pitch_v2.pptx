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55000">
                <a:srgbClr val="6B2C8E"/>
              </a:gs>
              <a:gs pos="100000">
                <a:srgbClr val="C8389B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-2286000"/>
            <a:ext cx="5486400" cy="548640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2011680" cy="7772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8640"/>
            <a:ext cx="1597742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71055" y="6400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CEO BRIEF   · 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Faster answers for your clients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without changing how they work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Circana has the most complete view of CPG and General Merchandise sales in the market. Today, getting an answer out of that data still takes a brand team hours or days. We'd like to help you close that gap with an AI layer that lets people ask questions in plain English and get a chart, a written answer, and a suggested next step in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349240"/>
            <a:ext cx="2682163" cy="9601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48640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$5.8T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897880"/>
            <a:ext cx="249928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Consumer spend you 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7963" y="5349240"/>
            <a:ext cx="2682163" cy="9601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7963" y="548640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5897880"/>
            <a:ext cx="249928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CPG &amp; GM items measured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1567" y="5349240"/>
            <a:ext cx="2682163" cy="9601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548640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477K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897880"/>
            <a:ext cx="249928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Stores in the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171" y="5349240"/>
            <a:ext cx="2682163" cy="960120"/>
          </a:xfrm>
          <a:prstGeom prst="roundRect">
            <a:avLst>
              <a:gd name="adj" fmla="val 10000"/>
            </a:avLst>
          </a:prstGeom>
          <a:solidFill>
            <a:srgbClr val="2A0F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171" y="5486400"/>
            <a:ext cx="2682163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Hours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611" y="5897880"/>
            <a:ext cx="2499283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How long an answer takes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2A0F40"/>
                </a:solidFill>
                <a:latin typeface="Calibri"/>
              </a:rPr>
              <a:t>What we'd build with you</a:t>
            </a:r>
          </a:p>
        </p:txBody>
      </p:sp>
      <p:pic>
        <p:nvPicPr>
          <p:cNvPr id="6" name="Picture 5" descr="circ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384048"/>
            <a:ext cx="884903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4A55"/>
                </a:solidFill>
                <a:latin typeface="Calibri"/>
              </a:rPr>
              <a:t>Three things that work together. Each is useful on its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73152" cy="150876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Ask in plain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4846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A brand or category manager types a question the way they'd ask a colleague: "Which brands are losing share in Energy Drinks?" The system understands the question, pulls the data, picks the right chart, and writes a 2-sentence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73152" cy="150876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2783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Set the rules that matter to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4846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You and your clients define what 'good' looks like: distribution thresholds, joint business plan targets, price guardrails. The system watches the data and tells the right person the moment something needs attention.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73152" cy="150876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28032"/>
            <a:ext cx="4846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Let it do the routine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4846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Small AI helpers that draft monthly business reviews, look into share changes, spot new launches that are about to take off, and prepare retailer meeting briefs. A person always reviews and approves before anything goes out.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261872"/>
            <a:ext cx="5852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2C8E"/>
                </a:solidFill>
                <a:latin typeface="Calibri"/>
              </a:rPr>
              <a:t>FIVE THINGS YOU CAN ASK IT TO 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554480"/>
            <a:ext cx="5852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1700784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1700784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682496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Ask Liquid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975104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Ask anything about share, sales velocity, or distribution.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0" y="2414016"/>
            <a:ext cx="5852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25603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2560320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542032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Draft Monthly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834640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Auto-prepares Monthly Business Reviews — analyst edits.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3273552"/>
            <a:ext cx="5852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89320" y="3419856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419856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401568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Why is share moving?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694176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Looks at the data and explains what's driving a gain or loss.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4133088"/>
            <a:ext cx="5852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89320" y="427939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4279392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61104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Spot winning launches early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553712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Flags new products that look like next year's pacesetters.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4992624"/>
            <a:ext cx="585216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89320" y="513892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5138928"/>
            <a:ext cx="502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5120640"/>
            <a:ext cx="49377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A0F40"/>
                </a:solidFill>
                <a:latin typeface="Calibri"/>
              </a:rPr>
              <a:t>Prepare retailer meetings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5413248"/>
            <a:ext cx="4937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4A4A55"/>
                </a:solidFill>
                <a:latin typeface="Calibri"/>
              </a:rPr>
              <a:t>Pulls together one brief for any top-to-top, 90 days out.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897880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2C8E"/>
                </a:solidFill>
                <a:latin typeface="Calibri"/>
              </a:rPr>
              <a:t>HOW IT FITS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217920"/>
            <a:ext cx="3698138" cy="310896"/>
          </a:xfrm>
          <a:prstGeom prst="roundRect">
            <a:avLst>
              <a:gd name="adj" fmla="val 2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217920"/>
            <a:ext cx="3423818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A0F40"/>
                </a:solidFill>
                <a:latin typeface="Calibri"/>
              </a:rPr>
              <a:t>Works with the data you already have — no new systems for your clients to learn.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46778" y="6217920"/>
            <a:ext cx="3698138" cy="310896"/>
          </a:xfrm>
          <a:prstGeom prst="roundRect">
            <a:avLst>
              <a:gd name="adj" fmla="val 2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3938" y="6217920"/>
            <a:ext cx="3423818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A0F40"/>
                </a:solidFill>
                <a:latin typeface="Calibri"/>
              </a:rPr>
              <a:t>Works with the AI model of your choice. Easy to swap as the market moves.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36356" y="6217920"/>
            <a:ext cx="3698138" cy="310896"/>
          </a:xfrm>
          <a:prstGeom prst="roundRect">
            <a:avLst>
              <a:gd name="adj" fmla="val 20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73516" y="6217920"/>
            <a:ext cx="3423818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A0F40"/>
                </a:solidFill>
                <a:latin typeface="Calibri"/>
              </a:rPr>
              <a:t>Every answer shows where the numbers came from, so anyone can check them.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A4A55"/>
                </a:solidFill>
                <a:latin typeface="Calibri"/>
              </a:rPr>
              <a:t>Ask Liquid Data  ·  CEO Brief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4A4A55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84048"/>
            <a:ext cx="640080" cy="411480"/>
          </a:xfrm>
          <a:prstGeom prst="roundRect">
            <a:avLst>
              <a:gd name="adj" fmla="val 30000"/>
            </a:avLst>
          </a:prstGeom>
          <a:solidFill>
            <a:srgbClr val="6B2C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6400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47472"/>
            <a:ext cx="7772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2A0F40"/>
                </a:solidFill>
                <a:latin typeface="Calibri"/>
              </a:rPr>
              <a:t>The benefits, and what we'd like to do next</a:t>
            </a:r>
          </a:p>
        </p:txBody>
      </p:sp>
      <p:pic>
        <p:nvPicPr>
          <p:cNvPr id="6" name="Picture 5" descr="circana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487" y="384048"/>
            <a:ext cx="884903" cy="3291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914400"/>
            <a:ext cx="11247120" cy="9525"/>
          </a:xfrm>
          <a:prstGeom prst="rect">
            <a:avLst/>
          </a:prstGeom>
          <a:solidFill>
            <a:srgbClr val="E6E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4A4A55"/>
                </a:solidFill>
                <a:latin typeface="Calibri"/>
              </a:rPr>
              <a:t>Five practical benefits. A short pilot to prove them on real client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C8389B"/>
                </a:solidFill>
                <a:latin typeface="Calibri"/>
              </a:rPr>
              <a:t>5 to 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Analyst output per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Your analysts spend less time pulling data and more time thinking about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0947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30947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8107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C8389B"/>
                </a:solidFill>
                <a:latin typeface="Calibri"/>
              </a:rPr>
              <a:t>Same-day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107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Monthly business 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8107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Drafted in minutes; the analyst edits instead of starting from scratch.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4694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4694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1854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C8389B"/>
                </a:solidFill>
                <a:latin typeface="Calibri"/>
              </a:rPr>
              <a:t>2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1854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Time to explain a share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1854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Down from a week or two of cross-team work. Each finding shows its evidence.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8441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78441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15601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C8389B"/>
                </a:solidFill>
                <a:latin typeface="Calibri"/>
              </a:rPr>
              <a:t>6 months earlier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5601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Spotting pacesetter launches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601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Continuous tracking surfaces winners well before the annual report would.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2188" y="1554480"/>
            <a:ext cx="2182307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2188" y="1554480"/>
            <a:ext cx="2182307" cy="9144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89348" y="1828800"/>
            <a:ext cx="1907987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C8389B"/>
                </a:solidFill>
                <a:latin typeface="Calibri"/>
              </a:rPr>
              <a:t>1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9348" y="2514600"/>
            <a:ext cx="1907987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A0F40"/>
                </a:solidFill>
                <a:latin typeface="Calibri"/>
              </a:rPr>
              <a:t>Retailer meeting prep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9348" y="2926080"/>
            <a:ext cx="1907987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4A4A55"/>
                </a:solidFill>
                <a:latin typeface="Calibri"/>
              </a:rPr>
              <a:t>One brief, current to last week's data. Currently a 5-day team effort.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730752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6B2C8E"/>
                </a:solidFill>
                <a:latin typeface="Calibri"/>
              </a:rPr>
              <a:t>12 WEEKS TO PROVE IT  ·  LAND, MEASURE, GROW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Weeks 0-2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Get aligned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We pick the first use case with you and agree the data we'll use. Two client teams sign up to try 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9383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9383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36543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Weeks 3-8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6543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Build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36543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We build a working version on real client data, branded as a Circana surface.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1567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41567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8727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Weeks 9-12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8727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Try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78727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The two client teams use it for real work. We measure the time saved and what they'd want next.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83751" y="4023360"/>
            <a:ext cx="2750743" cy="960120"/>
          </a:xfrm>
          <a:prstGeom prst="roundRect">
            <a:avLst>
              <a:gd name="adj" fmla="val 4000"/>
            </a:avLst>
          </a:prstGeom>
          <a:solidFill>
            <a:srgbClr val="F7F4FB"/>
          </a:solidFill>
          <a:ln w="9525">
            <a:solidFill>
              <a:srgbClr val="E6E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83751" y="4023360"/>
            <a:ext cx="54864" cy="960120"/>
          </a:xfrm>
          <a:prstGeom prst="rect">
            <a:avLst/>
          </a:prstGeom>
          <a:solidFill>
            <a:srgbClr val="C83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0911" y="4096512"/>
            <a:ext cx="2476423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C8389B"/>
                </a:solidFill>
                <a:latin typeface="Calibri"/>
              </a:rPr>
              <a:t>After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0911" y="4315968"/>
            <a:ext cx="2476423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0F40"/>
                </a:solidFill>
                <a:latin typeface="Calibri"/>
              </a:rPr>
              <a:t>Grow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0911" y="4590288"/>
            <a:ext cx="2476423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4A4A55"/>
                </a:solidFill>
                <a:latin typeface="Calibri"/>
              </a:rPr>
              <a:t>Add the other use cases. Make it available to more of your clients as a tier of Liquid Data.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257800"/>
            <a:ext cx="11277295" cy="1143000"/>
          </a:xfrm>
          <a:prstGeom prst="roundRect">
            <a:avLst>
              <a:gd name="adj" fmla="val 4000"/>
            </a:avLst>
          </a:prstGeom>
          <a:ln>
            <a:noFill/>
          </a:ln>
          <a:effectLst/>
          <a:gradFill flip="none" rotWithShape="1">
            <a:gsLst>
              <a:gs pos="0">
                <a:srgbClr val="2A0F40"/>
              </a:gs>
              <a:gs pos="55000">
                <a:srgbClr val="6B2C8E"/>
              </a:gs>
              <a:gs pos="100000">
                <a:srgbClr val="C8389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422392"/>
            <a:ext cx="1063721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WHAT WE'RE ASKING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669280"/>
            <a:ext cx="10637215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 12-week pilot with two of your clients trying it on real work.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6035040"/>
            <a:ext cx="1063721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If it saves the time we think it will, we grow it together. If it doesn't, you've still learned where the gap is.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4A4A55"/>
                </a:solidFill>
                <a:latin typeface="Calibri"/>
              </a:rPr>
              <a:t>Ask Liquid Data  ·  CEO Brief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62895" y="6583680"/>
            <a:ext cx="13716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4A4A55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