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2A0F40"/>
              </a:gs>
              <a:gs pos="55000">
                <a:srgbClr val="6B2C8E"/>
              </a:gs>
              <a:gs pos="100000">
                <a:srgbClr val="C8389B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91295" y="-2286000"/>
            <a:ext cx="5486400" cy="54864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01168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a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8640"/>
            <a:ext cx="1597742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1055" y="640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CEO BRIEF   ·   MARKET INSIGHTS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From dashboards to decisions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in seconds, with audit-grade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Circana sits on the largest commercial dataset in CPG and General Merchandise. The unsolved problem is the last mile — turning that data into a brand, category, or customer-team manager's next action in seconds, with defensible evidence. That gap is the opportunity.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212080"/>
            <a:ext cx="2682163" cy="109728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376672"/>
            <a:ext cx="2682163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$5.8T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33872"/>
            <a:ext cx="2499283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Consumer Spend tracked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5212080"/>
            <a:ext cx="2682163" cy="109728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7963" y="5376672"/>
            <a:ext cx="2682163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5833872"/>
            <a:ext cx="2499283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CPG &amp; GM items measured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1567" y="5212080"/>
            <a:ext cx="2682163" cy="109728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5376672"/>
            <a:ext cx="2682163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477K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5833872"/>
            <a:ext cx="2499283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Stores in 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171" y="5212080"/>
            <a:ext cx="2682163" cy="109728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171" y="5376672"/>
            <a:ext cx="2682163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Last Mile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611" y="5833872"/>
            <a:ext cx="2499283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Where insight→action is broken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CEO Brief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2A0F40"/>
                </a:solidFill>
                <a:latin typeface="Calibri"/>
              </a:rPr>
              <a:t>The Product  ·  A three-layer AI surface on top of Liquid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4A55"/>
                </a:solidFill>
                <a:latin typeface="Calibri"/>
              </a:rPr>
              <a:t>Natural-language analytics, a programmable policy engine, and human-in-the-loop agents — the verticalized surfaces Liquid AI doesn't ship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73152" cy="146304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64792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LAYER 1  ·  Conversational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8463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Brand managers ask in plain English. Intent engine routes to a CPG/GM semantic ontology, picks the visualization, and writes a 3-sentence narrative with the so-what.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73152" cy="146304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19272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LAYER 2  ·  Policy / Rules-as-a-Service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48463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Programmable engine that continuously evaluates live data against JBP commitments, distribution targets, MAP guardrails, and brand-health watchlists. Violations stream as ranked alerts.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00600"/>
            <a:ext cx="73152" cy="146304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73752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LAYER 3  ·  Agentic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48463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Autonomous agents that monitor signals, draft artifacts, and propose actions with human approval gates — share-movement watcher, auto-MBR, root-cause investigator, Pacesetter watch, retailer-readiness.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399032"/>
            <a:ext cx="5852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2C8E"/>
                </a:solidFill>
                <a:latin typeface="Calibri"/>
              </a:rPr>
              <a:t>FIVE USE CASES LIVE OR PITCH-READY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1691640"/>
            <a:ext cx="58521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9320" y="185623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1856232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5623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Ask Liquid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67128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Conversational share, velocity, distribution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2633472"/>
            <a:ext cx="58521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89320" y="279806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798064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798064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Auto-MBR 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0896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Agent-drafted Monthly Business Reviews .pptx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3575304"/>
            <a:ext cx="58521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89320" y="37398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3739896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3989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Why Is Share Moving?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50792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Multi-hop root-cause with ranked hypotheses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4517136"/>
            <a:ext cx="58521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89320" y="4681728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4681728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681728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Pacesetter Watch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992624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Continuous Year-1 launch tracker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5458968"/>
            <a:ext cx="58521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989320" y="562356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5623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623560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Top-to-Top Readiness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934456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Auto JBP brief, 90 days 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2C8E"/>
                </a:solidFill>
                <a:latin typeface="Calibri"/>
              </a:rPr>
              <a:t>ENGINE-AGNOSTIC, LLM-AGNOSTIC, RUNS IN-CLOUD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6190488"/>
            <a:ext cx="4718304" cy="310896"/>
          </a:xfrm>
          <a:prstGeom prst="roundRect">
            <a:avLst>
              <a:gd name="adj" fmla="val 30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190488"/>
            <a:ext cx="4718304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2A0F40"/>
                </a:solidFill>
                <a:latin typeface="Calibri"/>
              </a:rPr>
              <a:t>Liquid Data / Snowflake / BigQuery / DuckDB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48656" y="6190488"/>
            <a:ext cx="3621024" cy="310896"/>
          </a:xfrm>
          <a:prstGeom prst="roundRect">
            <a:avLst>
              <a:gd name="adj" fmla="val 30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48656" y="6190488"/>
            <a:ext cx="3621024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2A0F40"/>
                </a:solidFill>
                <a:latin typeface="Calibri"/>
              </a:rPr>
              <a:t>Claude / Llama / Bedrock / OpenAI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42832" y="6190488"/>
            <a:ext cx="2304288" cy="310896"/>
          </a:xfrm>
          <a:prstGeom prst="roundRect">
            <a:avLst>
              <a:gd name="adj" fmla="val 30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42832" y="6190488"/>
            <a:ext cx="2304288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2A0F40"/>
                </a:solidFill>
                <a:latin typeface="Calibri"/>
              </a:rPr>
              <a:t>Malloy semantic layer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320272" y="6190488"/>
            <a:ext cx="1463040" cy="310896"/>
          </a:xfrm>
          <a:prstGeom prst="roundRect">
            <a:avLst>
              <a:gd name="adj" fmla="val 30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320272" y="6190488"/>
            <a:ext cx="146304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2A0F40"/>
                </a:solidFill>
                <a:latin typeface="Calibri"/>
              </a:rPr>
              <a:t>Vega-Lite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856464" y="6190488"/>
            <a:ext cx="2084831" cy="310896"/>
          </a:xfrm>
          <a:prstGeom prst="roundRect">
            <a:avLst>
              <a:gd name="adj" fmla="val 30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56464" y="6190488"/>
            <a:ext cx="2084831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2A0F40"/>
                </a:solidFill>
                <a:latin typeface="Calibri"/>
              </a:rPr>
              <a:t>Immutable audit log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A4A55"/>
                </a:solidFill>
                <a:latin typeface="Calibri"/>
              </a:rPr>
              <a:t>Ask Liquid Data  ·  CEO Brief  ·  Market Insights AI for Circana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4A4A55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2A0F40"/>
                </a:solidFill>
                <a:latin typeface="Calibri"/>
              </a:rPr>
              <a:t>Value Proposition &amp; The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4A55"/>
                </a:solidFill>
                <a:latin typeface="Calibri"/>
              </a:rPr>
              <a:t>Quantified outcomes per use case. A 12-week paid PoV path to land. Then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C8389B"/>
                </a:solidFill>
                <a:latin typeface="Calibri"/>
              </a:rPr>
              <a:t>×5-10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Insights per analyst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Ask Liquid Data replaces dashboard navigation with NL queries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0947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30947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8107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C8389B"/>
                </a:solidFill>
                <a:latin typeface="Calibri"/>
              </a:rPr>
              <a:t>5d → same-day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8107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Report cycle (MBR / Category Review)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8107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Auto-MBR agent drafts; analyst edits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4694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04694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1854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C8389B"/>
                </a:solidFill>
                <a:latin typeface="Calibri"/>
              </a:rPr>
              <a:t>2 wks → 2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1854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Time to share-loss root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1854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Multi-hop investigator + audit-grade evidence chain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78441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78441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601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C8389B"/>
                </a:solidFill>
                <a:latin typeface="Calibri"/>
              </a:rPr>
              <a:t>+6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601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Pacesetter call lead-time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601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Continuous Year-1 trajectory scanner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2188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52188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9348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C8389B"/>
                </a:solidFill>
                <a:latin typeface="Calibri"/>
              </a:rPr>
              <a:t>5d → 1d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9348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Top-to-Top / JBP prep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9348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Readiness agent assembles the single 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30752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2C8E"/>
                </a:solidFill>
                <a:latin typeface="Calibri"/>
              </a:rPr>
              <a:t>12-WEEK PROOF-OF-VALUE  ·  LAND, MEASURE, SCALE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23360"/>
            <a:ext cx="2750743" cy="96012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023360"/>
            <a:ext cx="54864" cy="9601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096512"/>
            <a:ext cx="247642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8389B"/>
                </a:solidFill>
                <a:latin typeface="Calibri"/>
              </a:rPr>
              <a:t>Weeks 0-2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315968"/>
            <a:ext cx="247642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Discover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590288"/>
            <a:ext cx="247642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A55"/>
                </a:solidFill>
                <a:latin typeface="Calibri"/>
              </a:rPr>
              <a:t>Co-select use case, map Liquid Data semantic layer, identify 2 design-partner clients.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9383" y="4023360"/>
            <a:ext cx="2750743" cy="96012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9383" y="4023360"/>
            <a:ext cx="54864" cy="9601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36543" y="4096512"/>
            <a:ext cx="247642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8389B"/>
                </a:solidFill>
                <a:latin typeface="Calibri"/>
              </a:rPr>
              <a:t>Weeks 3-8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36543" y="4315968"/>
            <a:ext cx="247642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Build PoV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36543" y="4590288"/>
            <a:ext cx="247642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A55"/>
                </a:solidFill>
                <a:latin typeface="Calibri"/>
              </a:rPr>
              <a:t>Configure intent engine, query library, policy pack. Working demo on real client data by W8.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1567" y="4023360"/>
            <a:ext cx="2750743" cy="96012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1567" y="4023360"/>
            <a:ext cx="54864" cy="9601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8727" y="4096512"/>
            <a:ext cx="247642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8389B"/>
                </a:solidFill>
                <a:latin typeface="Calibri"/>
              </a:rPr>
              <a:t>Weeks 9-12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8727" y="4315968"/>
            <a:ext cx="247642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Pilot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8727" y="4590288"/>
            <a:ext cx="247642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A55"/>
                </a:solidFill>
                <a:latin typeface="Calibri"/>
              </a:rPr>
              <a:t>Run with 2 design partners. Instrument time-to-insight + report-cycle-time. Agree commercial model.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83751" y="4023360"/>
            <a:ext cx="2750743" cy="96012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83751" y="4023360"/>
            <a:ext cx="54864" cy="9601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0911" y="4096512"/>
            <a:ext cx="247642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8389B"/>
                </a:solidFill>
                <a:latin typeface="Calibri"/>
              </a:rPr>
              <a:t>Q2 onward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0911" y="4315968"/>
            <a:ext cx="247642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Scale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0911" y="4590288"/>
            <a:ext cx="247642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A55"/>
                </a:solidFill>
                <a:latin typeface="Calibri"/>
              </a:rPr>
              <a:t>Layer in use cases 2-5; co-sell into top-100 accounts as a value-add tier.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257800"/>
            <a:ext cx="11277295" cy="114300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2A0F40"/>
              </a:gs>
              <a:gs pos="5500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422392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 PITCH IN ONE SENTENCE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669280"/>
            <a:ext cx="106372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“You've built the platform. Let us build the personas.”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6035040"/>
            <a:ext cx="1063721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ask: a paid 12-week proof-of-value with two reference clients, to stand up the first verticalized AI surface on Liquid Data.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A4A55"/>
                </a:solidFill>
                <a:latin typeface="Calibri"/>
              </a:rPr>
              <a:t>Ask Liquid Data  ·  CEO Brief  ·  Market Insights AI for Circana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4A4A55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