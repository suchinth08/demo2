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2A0F40"/>
              </a:gs>
              <a:gs pos="55000">
                <a:srgbClr val="6B2C8E"/>
              </a:gs>
              <a:gs pos="100000">
                <a:srgbClr val="C8389B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91295" y="-2286000"/>
            <a:ext cx="5486400" cy="548640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011680" cy="7772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irca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8640"/>
            <a:ext cx="1597742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71055" y="640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AI FOR BI   |   MARKET INSIGHTS PITCH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From Dashboards to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Conversational, Agentic AI for Circana's CPG &amp; GM Market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5156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 three-layer AI-for-BI reference — natural-language analytics, a programmable policy engine, and human-in-the-loop agents — purpose-built for FMCG, CPG, and General Merchandise insights teams, designed to compound the value of Circana's Liquid Data® and Liquid AI™.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120640"/>
            <a:ext cx="2682163" cy="1188720"/>
          </a:xfrm>
          <a:prstGeom prst="roundRect">
            <a:avLst>
              <a:gd name="adj" fmla="val 10000"/>
            </a:avLst>
          </a:prstGeom>
          <a:solidFill>
            <a:srgbClr val="2A0F4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257800"/>
            <a:ext cx="268216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$5.8T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760720"/>
            <a:ext cx="249928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Global Consumer Spend tracked by Circana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7963" y="5120640"/>
            <a:ext cx="2682163" cy="1188720"/>
          </a:xfrm>
          <a:prstGeom prst="roundRect">
            <a:avLst>
              <a:gd name="adj" fmla="val 10000"/>
            </a:avLst>
          </a:prstGeom>
          <a:solidFill>
            <a:srgbClr val="2A0F4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7963" y="5257800"/>
            <a:ext cx="268216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03" y="5760720"/>
            <a:ext cx="249928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CPG &amp; GM items actively measured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1567" y="5120640"/>
            <a:ext cx="2682163" cy="1188720"/>
          </a:xfrm>
          <a:prstGeom prst="roundRect">
            <a:avLst>
              <a:gd name="adj" fmla="val 10000"/>
            </a:avLst>
          </a:prstGeom>
          <a:solidFill>
            <a:srgbClr val="2A0F4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1567" y="5257800"/>
            <a:ext cx="268216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477K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5760720"/>
            <a:ext cx="249928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Stores in the panel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171" y="5120640"/>
            <a:ext cx="2682163" cy="1188720"/>
          </a:xfrm>
          <a:prstGeom prst="roundRect">
            <a:avLst>
              <a:gd name="adj" fmla="val 10000"/>
            </a:avLst>
          </a:prstGeom>
          <a:solidFill>
            <a:srgbClr val="2A0F4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171" y="5257800"/>
            <a:ext cx="268216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611" y="5760720"/>
            <a:ext cx="249928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Industries — CPG, GM, Beauty, Durables, Tech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Pitch Brief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640080" cy="41148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2A0F40"/>
                </a:solidFill>
                <a:latin typeface="Calibri"/>
              </a:rPr>
              <a:t>Executive 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9525"/>
          </a:xfrm>
          <a:prstGeom prst="rect">
            <a:avLst/>
          </a:prstGeom>
          <a:solidFill>
            <a:srgbClr val="E6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55"/>
                </a:solidFill>
                <a:latin typeface="Calibri"/>
              </a:rPr>
              <a:t>Circana sits on the largest commercial dataset in CPG and General Merchandise. The unsolved problem is the last mile — turning that data into a brand, category, or customer-team manager's next action in seconds, with auditable, defensible insight.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3637178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73152" cy="420624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327141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6B2C8E"/>
                </a:solidFill>
                <a:latin typeface="Calibri"/>
              </a:rPr>
              <a:t>The market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3271418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55"/>
                </a:solidFill>
                <a:latin typeface="Calibri"/>
              </a:rPr>
              <a:t>CPG and GM brand teams generate enormous POS, panel, media, and price data but lack the tools to extract insight at the speed decisions require. The average time from a share-shift signal to a management decision is 2–3 weeks.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7258" y="1737360"/>
            <a:ext cx="3637178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7258" y="1737360"/>
            <a:ext cx="73152" cy="420624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5858" y="1965960"/>
            <a:ext cx="327141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6B2C8E"/>
                </a:solidFill>
                <a:latin typeface="Calibri"/>
              </a:rPr>
              <a:t>What we offer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5858" y="2514600"/>
            <a:ext cx="3271418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55"/>
                </a:solidFill>
                <a:latin typeface="Calibri"/>
              </a:rPr>
              <a:t>A working three-layer reference architecture (NL chatbot → rules engine → 7 agents) plus a delivery playbook for standing it up on a new commercial domain in under 12 weeks — with the audit trail, citation, and governance an enterprise CPG client expects.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7316" y="1737360"/>
            <a:ext cx="3637178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7316" y="1737360"/>
            <a:ext cx="73152" cy="420624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5916" y="1965960"/>
            <a:ext cx="327141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6B2C8E"/>
                </a:solidFill>
                <a:latin typeface="Calibri"/>
              </a:rPr>
              <a:t>Why this wins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5916" y="2514600"/>
            <a:ext cx="3271418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55"/>
                </a:solidFill>
                <a:latin typeface="Calibri"/>
              </a:rPr>
              <a:t>It is complementary to Liquid AI, not competitive. Liquid AI is the platform; we accelerate the persona-shaped surfaces (CPG Brand, Category, Retailer, Innovation, Customer Team) that a horizontal platform will always need on top.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4A4A55"/>
                </a:solidFill>
                <a:latin typeface="Calibri"/>
              </a:rPr>
              <a:t>AI for BI  |  Market Insights Acceleration for Circana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5836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4A4A55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640080" cy="41148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2A0F40"/>
                </a:solidFill>
                <a:latin typeface="Calibri"/>
              </a:rPr>
              <a:t>The Asset — A Three-Layer AI-for-BI Reference Tuned for CPG &amp; GM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9525"/>
          </a:xfrm>
          <a:prstGeom prst="rect">
            <a:avLst/>
          </a:prstGeom>
          <a:solidFill>
            <a:srgbClr val="E6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55"/>
                </a:solidFill>
                <a:latin typeface="Calibri"/>
              </a:rPr>
              <a:t>A working reference across all three layers, configurable for any commercial domain Circana tracks — food &amp; beverage, beauty, healthcare, durables, tech, fashion, automotive aftermarket, foodservice.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73152" cy="141732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6479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A0F40"/>
                </a:solidFill>
                <a:latin typeface="Calibri"/>
              </a:rPr>
              <a:t>LAYER 1  ·  Conversational BI for Market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731520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4A55"/>
                </a:solidFill>
                <a:latin typeface="Calibri"/>
              </a:rPr>
              <a:t>Intent engine (LLM) → query library against a CPG/GM semantic ontology (share, velocity, ACV, distribution, price-gap, promo lift, basket affinity) → auto-chosen visualization → AI-written narrative. Multi-turn memory; CPG-native synonym resolution; precise time-expression handling.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18688"/>
            <a:ext cx="73152" cy="141732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A0F40"/>
                </a:solidFill>
                <a:latin typeface="Calibri"/>
              </a:rPr>
              <a:t>LAYER 2  ·  Policy / Rules-as-a-Service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30168"/>
            <a:ext cx="731520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4A55"/>
                </a:solidFill>
                <a:latin typeface="Calibri"/>
              </a:rPr>
              <a:t>Programmable rules engine continuously evaluating live data against codified commercial policy — JBP commitments, retailer contract thresholds, distribution targets, MAP / MSRP guardrails, brand-health watchlists, promo-ROI floors, OSA service levels. Violations flow as ranked alerts with full evidence chain.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45736"/>
            <a:ext cx="73152" cy="141732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1888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A0F40"/>
                </a:solidFill>
                <a:latin typeface="Calibri"/>
              </a:rPr>
              <a:t>LAYER 3  ·  Agentic Actions for Insights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57216"/>
            <a:ext cx="731520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4A55"/>
                </a:solidFill>
                <a:latin typeface="Calibri"/>
              </a:rPr>
              <a:t>Autonomous agents that monitor signals, draft artifacts, propose actions with human approval gates — Share-Movement Watcher, MBR / Category-Review Auto-Drafter, Root-Cause Investigator, Innovation / Pacesetter Watcher, Retailer-Readiness Agent, Insight-Distribution Agent, Pricing &amp; Promo Investigator.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691640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783080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2C8E"/>
                </a:solidFill>
                <a:latin typeface="Calibri"/>
              </a:rPr>
              <a:t>Tech stack (transferable)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103120"/>
            <a:ext cx="324612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FastAPI · LLM-agnostic (Groq, Azure OpenAI, Bedrock, on-prem Llama) · DuckDB / Snowflake / BigQuery · Malloy semantic layer · Vega-Lite · immutable audit log.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218688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310128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2C8E"/>
                </a:solidFill>
                <a:latin typeface="Calibri"/>
              </a:rPr>
              <a:t>Already built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630168"/>
            <a:ext cx="324612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13 chart types, multi-domain query library, follow-up resolution, session memory, agent runtime with tool-calling, policy DSL, narrative generator.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4745736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4837176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B2C8E"/>
                </a:solidFill>
                <a:latin typeface="Calibri"/>
              </a:rPr>
              <a:t>Configured for Circana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5157216"/>
            <a:ext cx="324612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Ontology (CPG/GM measures &amp; dimensions), query library, and policy pack. Everything else is the same engine — 12-week vertical pilot is realistic.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4A4A55"/>
                </a:solidFill>
                <a:latin typeface="Calibri"/>
              </a:rPr>
              <a:t>AI for BI  |  Market Insights Acceleration for Circana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5836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4A4A55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640080" cy="41148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2A0F40"/>
                </a:solidFill>
                <a:latin typeface="Calibri"/>
              </a:rPr>
              <a:t>The Insight-Workflow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9525"/>
          </a:xfrm>
          <a:prstGeom prst="rect">
            <a:avLst/>
          </a:prstGeom>
          <a:solidFill>
            <a:srgbClr val="E6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55"/>
                </a:solidFill>
                <a:latin typeface="Calibri"/>
              </a:rPr>
              <a:t>Every recurring CPG / GM analyst workflow has a direct AI-for-BI capability that replaces it — measured against today's analyst-led baseline.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931920" cy="38404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91640"/>
            <a:ext cx="37490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A0F40"/>
                </a:solidFill>
                <a:latin typeface="Calibri"/>
              </a:rPr>
              <a:t>ANALYST WORKFLOW (CPG / GM)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3657600" cy="384048"/>
          </a:xfrm>
          <a:prstGeom prst="rect">
            <a:avLst/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691640"/>
            <a:ext cx="34747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A0F40"/>
                </a:solidFill>
                <a:latin typeface="Calibri"/>
              </a:rPr>
              <a:t>TODAY'S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691640"/>
            <a:ext cx="4023360" cy="384048"/>
          </a:xfrm>
          <a:prstGeom prst="rect">
            <a:avLst/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691640"/>
            <a:ext cx="3840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A0F40"/>
                </a:solidFill>
                <a:latin typeface="Calibri"/>
              </a:rPr>
              <a:t>WITH AI FOR BI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75688"/>
            <a:ext cx="39319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075688"/>
            <a:ext cx="37490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5151A"/>
                </a:solidFill>
                <a:latin typeface="Calibri"/>
              </a:rPr>
              <a:t>Weekly share &amp; velocity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075688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2075688"/>
            <a:ext cx="34747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4–8 hours of analyst pulls + slides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075688"/>
            <a:ext cx="40233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2075688"/>
            <a:ext cx="3840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5151A"/>
                </a:solidFill>
                <a:latin typeface="Calibri"/>
              </a:rPr>
              <a:t>30-second NL query, auto-narrative, auto-chart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459736"/>
            <a:ext cx="3931920" cy="38404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459736"/>
            <a:ext cx="37490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5151A"/>
                </a:solidFill>
                <a:latin typeface="Calibri"/>
              </a:rPr>
              <a:t>Monthly MBR / Category Review drafting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459736"/>
            <a:ext cx="3657600" cy="38404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2459736"/>
            <a:ext cx="34747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8–20 hours per 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2459736"/>
            <a:ext cx="4023360" cy="38404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2459736"/>
            <a:ext cx="3840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5151A"/>
                </a:solidFill>
                <a:latin typeface="Calibri"/>
              </a:rPr>
              <a:t>Agent-drafted deck with cited sources; analyst edits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843784"/>
            <a:ext cx="39319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2843784"/>
            <a:ext cx="37490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5151A"/>
                </a:solidFill>
                <a:latin typeface="Calibri"/>
              </a:rPr>
              <a:t>Share-loss / share-gain root cause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843784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98848" y="2843784"/>
            <a:ext cx="34747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1–2 weeks across multiple cuts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2843784"/>
            <a:ext cx="40233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6448" y="2843784"/>
            <a:ext cx="3840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5151A"/>
                </a:solidFill>
                <a:latin typeface="Calibri"/>
              </a:rPr>
              <a:t>1–2 hours via multi-hop agent with ranked hypotheses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227832"/>
            <a:ext cx="3931920" cy="38404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227832"/>
            <a:ext cx="37490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5151A"/>
                </a:solidFill>
                <a:latin typeface="Calibri"/>
              </a:rPr>
              <a:t>Promo ROI / lift deep-dive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3227832"/>
            <a:ext cx="3657600" cy="38404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3227832"/>
            <a:ext cx="34747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Bespoke analyst engagement, 3–5 days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3227832"/>
            <a:ext cx="4023360" cy="38404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56448" y="3227832"/>
            <a:ext cx="3840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5151A"/>
                </a:solidFill>
                <a:latin typeface="Calibri"/>
              </a:rPr>
              <a:t>Conversational drill: lift, halo, cannibalization in minutes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611880"/>
            <a:ext cx="39319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3611880"/>
            <a:ext cx="37490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5151A"/>
                </a:solidFill>
                <a:latin typeface="Calibri"/>
              </a:rPr>
              <a:t>Innovation / Pacesetter scan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3611880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98848" y="3611880"/>
            <a:ext cx="34747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Annual report cycle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3611880"/>
            <a:ext cx="40233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56448" y="3611880"/>
            <a:ext cx="3840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5151A"/>
                </a:solidFill>
                <a:latin typeface="Calibri"/>
              </a:rPr>
              <a:t>Continuous agent flagging Year-1 launches 6 months earlier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995928"/>
            <a:ext cx="3931920" cy="38404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3995928"/>
            <a:ext cx="37490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5151A"/>
                </a:solidFill>
                <a:latin typeface="Calibri"/>
              </a:rPr>
              <a:t>Retailer JBP / Top-to-Top prep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3995928"/>
            <a:ext cx="3657600" cy="38404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98848" y="3995928"/>
            <a:ext cx="34747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5 days, multi-team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3995928"/>
            <a:ext cx="4023360" cy="38404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56448" y="3995928"/>
            <a:ext cx="3840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5151A"/>
                </a:solidFill>
                <a:latin typeface="Calibri"/>
              </a:rPr>
              <a:t>Readiness Agent produces a single brief, 1 day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379976"/>
            <a:ext cx="39319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928" y="4379976"/>
            <a:ext cx="37490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5151A"/>
                </a:solidFill>
                <a:latin typeface="Calibri"/>
              </a:rPr>
              <a:t>Distribution / OSA gap monitoring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89120" y="4379976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98848" y="4379976"/>
            <a:ext cx="34747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Discovered at monthly review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4379976"/>
            <a:ext cx="40233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56448" y="4379976"/>
            <a:ext cx="3840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5151A"/>
                </a:solidFill>
                <a:latin typeface="Calibri"/>
              </a:rPr>
              <a:t>Real-time policy alert with evidence chain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764024"/>
            <a:ext cx="3931920" cy="38404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" y="4764024"/>
            <a:ext cx="37490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5151A"/>
                </a:solidFill>
                <a:latin typeface="Calibri"/>
              </a:rPr>
              <a:t>Macro-trend ripple (GLP-1, weather, BNPL)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4764024"/>
            <a:ext cx="3657600" cy="38404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98848" y="4764024"/>
            <a:ext cx="34747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Thought-leadership reports, lagging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46720" y="4764024"/>
            <a:ext cx="4023360" cy="38404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56448" y="4764024"/>
            <a:ext cx="3840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5151A"/>
                </a:solidFill>
                <a:latin typeface="Calibri"/>
              </a:rPr>
              <a:t>Continuous agent surfacing impacted categories &amp; SKUs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148072"/>
            <a:ext cx="39319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928" y="5148072"/>
            <a:ext cx="37490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5151A"/>
                </a:solidFill>
                <a:latin typeface="Calibri"/>
              </a:rPr>
              <a:t>Ad-hoc executive question turnaround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89120" y="5148072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98848" y="5148072"/>
            <a:ext cx="34747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4A4A55"/>
                </a:solidFill>
                <a:latin typeface="Calibri"/>
              </a:rPr>
              <a:t>2–4 hours per question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46720" y="5148072"/>
            <a:ext cx="40233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56448" y="5148072"/>
            <a:ext cx="38404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15151A"/>
                </a:solidFill>
                <a:latin typeface="Calibri"/>
              </a:rPr>
              <a:t>Under 60 seconds, with follow-up suggestions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532120"/>
            <a:ext cx="11612880" cy="9525"/>
          </a:xfrm>
          <a:prstGeom prst="rect">
            <a:avLst/>
          </a:prstGeom>
          <a:solidFill>
            <a:srgbClr val="E6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4A4A55"/>
                </a:solidFill>
                <a:latin typeface="Calibri"/>
              </a:rPr>
              <a:t>AI for BI  |  Market Insights Acceleration for Circana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62895" y="65836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4A4A55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640080" cy="41148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2A0F40"/>
                </a:solidFill>
                <a:latin typeface="Calibri"/>
              </a:rPr>
              <a:t>Top Use Cases to Pitch  (1 of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9525"/>
          </a:xfrm>
          <a:prstGeom prst="rect">
            <a:avLst/>
          </a:prstGeom>
          <a:solidFill>
            <a:srgbClr val="E6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55"/>
                </a:solidFill>
                <a:latin typeface="Calibri"/>
              </a:rPr>
              <a:t>Direct configurations of the existing three-layer reference. Ranked for client demand × build feasibility.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11247120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8745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A0F40"/>
                </a:solidFill>
                <a:latin typeface="Calibri"/>
              </a:rPr>
              <a:t>"Ask Liquid Data" — Conversational Share, Velocity &amp;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4028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4A55"/>
                </a:solidFill>
                <a:latin typeface="Calibri"/>
              </a:rPr>
              <a:t>Brand managers, category leaders, and customer-team analysts ask in plain English: "Which categories are losing share in Kroger over the last 8 weeks and why?" — answered in seconds with a chart, narrative, and three suggested follow-ups. Spans CPG (food, beverage, beauty, HBA), GM (toys, home, apparel, tech), and Foodservice.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743200"/>
            <a:ext cx="3261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2C8E"/>
                </a:solidFill>
                <a:latin typeface="Calibri"/>
              </a:rPr>
              <a:t>BUYER  </a:t>
            </a:r>
            <a:r>
              <a:rPr sz="1000" b="0" i="0">
                <a:solidFill>
                  <a:srgbClr val="15151A"/>
                </a:solidFill>
                <a:latin typeface="Calibri"/>
              </a:rPr>
              <a:t>VP Insights / Category at CPG &amp; GM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0120" y="2743200"/>
            <a:ext cx="3261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2C8E"/>
                </a:solidFill>
                <a:latin typeface="Calibri"/>
              </a:rPr>
              <a:t>LIFT  </a:t>
            </a:r>
            <a:r>
              <a:rPr sz="1000" b="0" i="0">
                <a:solidFill>
                  <a:srgbClr val="15151A"/>
                </a:solidFill>
                <a:latin typeface="Calibri"/>
              </a:rPr>
              <a:t>Low · ontology + query-library swap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2920" y="2743200"/>
            <a:ext cx="3261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2C8E"/>
                </a:solidFill>
                <a:latin typeface="Calibri"/>
              </a:rPr>
              <a:t>KPI  </a:t>
            </a:r>
            <a:r>
              <a:rPr sz="1000" b="0" i="0">
                <a:solidFill>
                  <a:srgbClr val="15151A"/>
                </a:solidFill>
                <a:latin typeface="Calibri"/>
              </a:rPr>
              <a:t>Insights / analyst / day ×5–10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64408"/>
            <a:ext cx="11247120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447288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47288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0156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A0F40"/>
                </a:solidFill>
                <a:latin typeface="Calibri"/>
              </a:rPr>
              <a:t>Auto-Drafted MBRs, Category &amp; Quarterly Business Reviews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13048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4A55"/>
                </a:solidFill>
                <a:latin typeface="Calibri"/>
              </a:rPr>
              <a:t>Manufacturers produce hundreds of MBRs and category reviews per month, each 6–20 analyst hours. An agent assembles share, distribution, price, promo, innovation, and panel slides with cited Circana sources — analyst becomes the editor. Productizable as a billable Circana service tier.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315968"/>
            <a:ext cx="3261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2C8E"/>
                </a:solidFill>
                <a:latin typeface="Calibri"/>
              </a:rPr>
              <a:t>BUYER  </a:t>
            </a:r>
            <a:r>
              <a:rPr sz="1000" b="0" i="0">
                <a:solidFill>
                  <a:srgbClr val="15151A"/>
                </a:solidFill>
                <a:latin typeface="Calibri"/>
              </a:rPr>
              <a:t>Custom Analytics &amp; Client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0120" y="4315968"/>
            <a:ext cx="3261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2C8E"/>
                </a:solidFill>
                <a:latin typeface="Calibri"/>
              </a:rPr>
              <a:t>LIFT  </a:t>
            </a:r>
            <a:r>
              <a:rPr sz="1000" b="0" i="0">
                <a:solidFill>
                  <a:srgbClr val="15151A"/>
                </a:solidFill>
                <a:latin typeface="Calibri"/>
              </a:rPr>
              <a:t>Medium · templates + 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2920" y="4315968"/>
            <a:ext cx="3261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2C8E"/>
                </a:solidFill>
                <a:latin typeface="Calibri"/>
              </a:rPr>
              <a:t>KPI  </a:t>
            </a:r>
            <a:r>
              <a:rPr sz="1000" b="0" i="0">
                <a:solidFill>
                  <a:srgbClr val="15151A"/>
                </a:solidFill>
                <a:latin typeface="Calibri"/>
              </a:rPr>
              <a:t>Report cycle 5 days → same-day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37176"/>
            <a:ext cx="11247120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5020056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020056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974336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A0F40"/>
                </a:solidFill>
                <a:latin typeface="Calibri"/>
              </a:rPr>
              <a:t>"Why Is Share Moving?" Root-Cause Agent  —  Force-Multiplier on Complete Why™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385816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4A55"/>
                </a:solidFill>
                <a:latin typeface="Calibri"/>
              </a:rPr>
              <a:t>Multi-hop reasoning across POS, panel, distribution, price-gap, promo, media spend, retail media, weather, and macro signals — producing a ranked hypothesis list with evidence. Direct accelerator on Circana's Complete Why™.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888736"/>
            <a:ext cx="3261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2C8E"/>
                </a:solidFill>
                <a:latin typeface="Calibri"/>
              </a:rPr>
              <a:t>BUYER  </a:t>
            </a:r>
            <a:r>
              <a:rPr sz="1000" b="0" i="0">
                <a:solidFill>
                  <a:srgbClr val="15151A"/>
                </a:solidFill>
                <a:latin typeface="Calibri"/>
              </a:rPr>
              <a:t>Brand Director, RGM, Category Captain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0120" y="5888736"/>
            <a:ext cx="3261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2C8E"/>
                </a:solidFill>
                <a:latin typeface="Calibri"/>
              </a:rPr>
              <a:t>LIFT  </a:t>
            </a:r>
            <a:r>
              <a:rPr sz="1000" b="0" i="0">
                <a:solidFill>
                  <a:srgbClr val="15151A"/>
                </a:solidFill>
                <a:latin typeface="Calibri"/>
              </a:rPr>
              <a:t>Med-High · Liquid Data tool wrappers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2920" y="5888736"/>
            <a:ext cx="3261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2C8E"/>
                </a:solidFill>
                <a:latin typeface="Calibri"/>
              </a:rPr>
              <a:t>KPI  </a:t>
            </a:r>
            <a:r>
              <a:rPr sz="1000" b="0" i="0">
                <a:solidFill>
                  <a:srgbClr val="15151A"/>
                </a:solidFill>
                <a:latin typeface="Calibri"/>
              </a:rPr>
              <a:t>Time-to-root-cause 2 wks → 2 hrs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4A4A55"/>
                </a:solidFill>
                <a:latin typeface="Calibri"/>
              </a:rPr>
              <a:t>AI for BI  |  Market Insights Acceleration for Circana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2895" y="65836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4A4A55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640080" cy="41148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2A0F40"/>
                </a:solidFill>
                <a:latin typeface="Calibri"/>
              </a:rPr>
              <a:t>Top Use Cases to Pitch  (2 of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9525"/>
          </a:xfrm>
          <a:prstGeom prst="rect">
            <a:avLst/>
          </a:prstGeom>
          <a:solidFill>
            <a:srgbClr val="E6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55"/>
                </a:solidFill>
                <a:latin typeface="Calibri"/>
              </a:rPr>
              <a:t>Use cases 4 and 5 — innovation and customer-engagement focused.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1124712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8745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A0F40"/>
                </a:solidFill>
                <a:latin typeface="Calibri"/>
              </a:rPr>
              <a:t>Continuous Innovation &amp; Pacesetter Watch Agent (CPG + GM)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40280"/>
            <a:ext cx="1005840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4A55"/>
                </a:solidFill>
                <a:latin typeface="Calibri"/>
              </a:rPr>
              <a:t>Circana's 2025 New Product Pacesetters drove $6.2B in Year-1 sales. Convert that annual signal into a continuous agent: scan Year-1 trajectories of every launch, flag emerging Pacesetters 6 months earlier, identify stalled launches, write a one-page brief per candidate. Spans CPG and Durables / GM.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474720"/>
            <a:ext cx="3261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2C8E"/>
                </a:solidFill>
                <a:latin typeface="Calibri"/>
              </a:rPr>
              <a:t>BUYER  </a:t>
            </a:r>
            <a:r>
              <a:rPr sz="1000" b="0" i="0">
                <a:solidFill>
                  <a:srgbClr val="15151A"/>
                </a:solidFill>
                <a:latin typeface="Calibri"/>
              </a:rPr>
              <a:t>Innovation Heads at CPG &amp; GM; Circana Innovation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0120" y="3474720"/>
            <a:ext cx="3261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2C8E"/>
                </a:solidFill>
                <a:latin typeface="Calibri"/>
              </a:rPr>
              <a:t>LIFT  </a:t>
            </a:r>
            <a:r>
              <a:rPr sz="1000" b="0" i="0">
                <a:solidFill>
                  <a:srgbClr val="15151A"/>
                </a:solidFill>
                <a:latin typeface="Calibri"/>
              </a:rPr>
              <a:t>Medium · policy pack + watcher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2920" y="3474720"/>
            <a:ext cx="3261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2C8E"/>
                </a:solidFill>
                <a:latin typeface="Calibri"/>
              </a:rPr>
              <a:t>KPI  </a:t>
            </a:r>
            <a:r>
              <a:rPr sz="1000" b="0" i="0">
                <a:solidFill>
                  <a:srgbClr val="15151A"/>
                </a:solidFill>
                <a:latin typeface="Calibri"/>
              </a:rPr>
              <a:t>Pacesetter call lead-time +6 months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95928"/>
            <a:ext cx="1124712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4178808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78808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33088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A0F40"/>
                </a:solidFill>
                <a:latin typeface="Calibri"/>
              </a:rPr>
              <a:t>Retailer / Top-to-Top JBP Readiness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544568"/>
            <a:ext cx="1005840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4A4A55"/>
                </a:solidFill>
                <a:latin typeface="Calibri"/>
              </a:rPr>
              <a:t>90 days before a JBP with Walmart, Kroger, Target, Costco, or Amazon, the agent assembles category share, distribution gaps, promo effectiveness, OSA, competitor moves, and recommended asks into a single readiness brief with a score. The indispensable weekly artifact for any Customer Team Lead. Adjacent to Market Share Drivers.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779008"/>
            <a:ext cx="3261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2C8E"/>
                </a:solidFill>
                <a:latin typeface="Calibri"/>
              </a:rPr>
              <a:t>BUYER  </a:t>
            </a:r>
            <a:r>
              <a:rPr sz="1000" b="0" i="0">
                <a:solidFill>
                  <a:srgbClr val="15151A"/>
                </a:solidFill>
                <a:latin typeface="Calibri"/>
              </a:rPr>
              <a:t>Customer Team Leads at top-100 CPG &amp; GM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0120" y="5779008"/>
            <a:ext cx="3261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2C8E"/>
                </a:solidFill>
                <a:latin typeface="Calibri"/>
              </a:rPr>
              <a:t>LIFT  </a:t>
            </a:r>
            <a:r>
              <a:rPr sz="1000" b="0" i="0">
                <a:solidFill>
                  <a:srgbClr val="15151A"/>
                </a:solidFill>
                <a:latin typeface="Calibri"/>
              </a:rPr>
              <a:t>Medium · readiness scoring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2920" y="5779008"/>
            <a:ext cx="3261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6B2C8E"/>
                </a:solidFill>
                <a:latin typeface="Calibri"/>
              </a:rPr>
              <a:t>KPI  </a:t>
            </a:r>
            <a:r>
              <a:rPr sz="1000" b="0" i="0">
                <a:solidFill>
                  <a:srgbClr val="15151A"/>
                </a:solidFill>
                <a:latin typeface="Calibri"/>
              </a:rPr>
              <a:t>Top-to-top prep 5 days → 1 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4A4A55"/>
                </a:solidFill>
                <a:latin typeface="Calibri"/>
              </a:rPr>
              <a:t>AI for BI  |  Market Insights Acceleration for Circana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2895" y="65836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4A4A55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640080" cy="41148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2A0F40"/>
                </a:solidFill>
                <a:latin typeface="Calibri"/>
              </a:rPr>
              <a:t>Positioning vs. Liquid AI — Complement, Don't Compete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9525"/>
          </a:xfrm>
          <a:prstGeom prst="rect">
            <a:avLst/>
          </a:prstGeom>
          <a:solidFill>
            <a:srgbClr val="E6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55"/>
                </a:solidFill>
                <a:latin typeface="Calibri"/>
              </a:rPr>
              <a:t>Liquid AI is Circana's horizontal GenAI platform. The white space is the verticalized, persona-shaped analyst surfaces on top — a category a horizontal platform cannot fully ship itself.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5547207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73152" cy="2926080"/>
          </a:xfrm>
          <a:prstGeom prst="rect">
            <a:avLst/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181447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6B2C8E"/>
                </a:solidFill>
                <a:latin typeface="Calibri"/>
              </a:rPr>
              <a:t>Where Liquid AI sits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68880"/>
            <a:ext cx="5181447" cy="1920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4A4A55"/>
                </a:solidFill>
                <a:latin typeface="Calibri"/>
              </a:rPr>
              <a:t>Data plane, retrieval, governance, LLM orchestration, security boundary — the platform plumbing every persona surface will build on. Strategic to Circana; not the place a partner should try to substitute.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1691640"/>
            <a:ext cx="5547207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7287" y="1691640"/>
            <a:ext cx="73152" cy="2926080"/>
          </a:xfrm>
          <a:prstGeom prst="rect">
            <a:avLst/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920240"/>
            <a:ext cx="5181447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6B2C8E"/>
                </a:solidFill>
                <a:latin typeface="Calibri"/>
              </a:rPr>
              <a:t>Where we sit on 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2468880"/>
            <a:ext cx="5181447" cy="1920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4A4A55"/>
                </a:solidFill>
                <a:latin typeface="Calibri"/>
              </a:rPr>
              <a:t>Domain-specific intent engines, policy packs (JBP, MAP, distribution), ready-built agents per persona (Brand, Category, Retailer, Innovation, Customer Team), and the deliverable-quality narrative + audit layer that lets a Brand Director defend an insight to their CFO.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11277295" cy="1371600"/>
          </a:xfrm>
          <a:prstGeom prst="roundRect">
            <a:avLst>
              <a:gd name="adj" fmla="val 4000"/>
            </a:avLst>
          </a:prstGeom>
          <a:ln>
            <a:noFill/>
          </a:ln>
          <a:effectLst/>
          <a:gradFill flip="none" rotWithShape="1">
            <a:gsLst>
              <a:gs pos="0">
                <a:srgbClr val="2A0F40"/>
              </a:gs>
              <a:gs pos="100000">
                <a:srgbClr val="6B2C8E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010912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The one-sentence pitch to Circana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1072865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"You've built the platform — let us build the personas. We bring a proven AI-for-BI reference, port it onto Liquid Data and Liquid AI, and stand up two verticalized analyst experiences inside one quarter — defensible insights, auditable narratives, agent-driven artifacts, ready to monetize."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4A4A55"/>
                </a:solidFill>
                <a:latin typeface="Calibri"/>
              </a:rPr>
              <a:t>AI for BI  |  Market Insights Acceleration for Circana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5836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4A4A55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640080" cy="41148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2A0F40"/>
                </a:solidFill>
                <a:latin typeface="Calibri"/>
              </a:rPr>
              <a:t>Proposed Engagement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9525"/>
          </a:xfrm>
          <a:prstGeom prst="rect">
            <a:avLst/>
          </a:prstGeom>
          <a:solidFill>
            <a:srgbClr val="E6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112471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55"/>
                </a:solidFill>
                <a:latin typeface="Calibri"/>
              </a:rPr>
              <a:t>Land with a paid 12-week proof-of-value on one use case; expand into a multi-quarter build-out.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11277295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417320" cy="777240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647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389B"/>
                </a:solidFill>
                <a:latin typeface="Calibri"/>
              </a:rPr>
              <a:t>Weeks 0–2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A0F40"/>
                </a:solidFill>
                <a:latin typeface="Calibri"/>
              </a:rP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801368"/>
            <a:ext cx="958565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A4A55"/>
                </a:solidFill>
                <a:latin typeface="Calibri"/>
              </a:rPr>
              <a:t>Co-select use case #1 (recommended: Ask Liquid Data + auto-MBR). Map the Liquid Data semantic layer to our ontology shape. Identify 5 reference clients. Workshops, data access, persona interviews.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78608"/>
            <a:ext cx="11277295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78608"/>
            <a:ext cx="1417320" cy="777240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5176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389B"/>
                </a:solidFill>
                <a:latin typeface="Calibri"/>
              </a:rPr>
              <a:t>Weeks 3–8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4436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A0F40"/>
                </a:solidFill>
                <a:latin typeface="Calibri"/>
              </a:rPr>
              <a:t>Build PoV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688336"/>
            <a:ext cx="958565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A4A55"/>
                </a:solidFill>
                <a:latin typeface="Calibri"/>
              </a:rPr>
              <a:t>Configure intent engine on the Circana ontology; stand up the query library for the chosen domain; integrate Vega rendering into a Circana-branded surface; codify 5–10 policy rules. Working demo on real client data by week 8.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65576"/>
            <a:ext cx="11277295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465576"/>
            <a:ext cx="1417320" cy="777240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53872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389B"/>
                </a:solidFill>
                <a:latin typeface="Calibri"/>
              </a:rPr>
              <a:t>Weeks 9–12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31336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A0F40"/>
                </a:solidFill>
                <a:latin typeface="Calibri"/>
              </a:rPr>
              <a:t>Pilot &amp; Measure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575304"/>
            <a:ext cx="958565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A4A55"/>
                </a:solidFill>
                <a:latin typeface="Calibri"/>
              </a:rPr>
              <a:t>Pilot with 2 client design partners; instrument time-to-insight, report-cycle-time, adoption; deliver business case for scale-up; agree the commercial model (per-seat, per-report, or platform tier).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52544"/>
            <a:ext cx="11277295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52544"/>
            <a:ext cx="1417320" cy="777240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425696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389B"/>
                </a:solidFill>
                <a:latin typeface="Calibri"/>
              </a:rPr>
              <a:t>Q2 onward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18304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A0F40"/>
                </a:solidFill>
                <a:latin typeface="Calibri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462272"/>
            <a:ext cx="9585655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4A4A55"/>
                </a:solidFill>
                <a:latin typeface="Calibri"/>
              </a:rPr>
              <a:t>Add use cases 2–5 in parallel tracks; deepen Liquid AI integration; productize policy packs per retailer / per category; co-sell into Circana's top-100 accounts as a value-add tier.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303520"/>
            <a:ext cx="11277295" cy="1005840"/>
          </a:xfrm>
          <a:prstGeom prst="roundRect">
            <a:avLst>
              <a:gd name="adj" fmla="val 4000"/>
            </a:avLst>
          </a:prstGeom>
          <a:ln>
            <a:noFill/>
          </a:ln>
          <a:effectLst/>
          <a:gradFill flip="none" rotWithShape="1">
            <a:gsLst>
              <a:gs pos="0">
                <a:srgbClr val="2A0F40"/>
              </a:gs>
              <a:gs pos="100000">
                <a:srgbClr val="C8389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13248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Why this de-risks the deal for Circana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15000"/>
            <a:ext cx="1072865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A working three-layer reference exists today — not a slideware demo. Architecture is LLM-agnostic, runs in their cloud, and was originally built under one of the most demanding governance regimes in any industry. Circana is buying speed-to-market and risk transfer, not unproven IP.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4A4A55"/>
                </a:solidFill>
                <a:latin typeface="Calibri"/>
              </a:rPr>
              <a:t>AI for BI  |  Market Insights Acceleration for Circana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2895" y="65836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4A4A55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640080" cy="41148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2A0F40"/>
                </a:solidFill>
                <a:latin typeface="Calibri"/>
              </a:rPr>
              <a:t>Recommended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9525"/>
          </a:xfrm>
          <a:prstGeom prst="rect">
            <a:avLst/>
          </a:prstGeom>
          <a:solidFill>
            <a:srgbClr val="E6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363717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84248"/>
            <a:ext cx="2585618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A0F40"/>
                </a:solidFill>
                <a:latin typeface="Calibri"/>
              </a:rPr>
              <a:t>Align the offering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3225698" cy="2057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55"/>
                </a:solidFill>
                <a:latin typeface="Calibri"/>
              </a:rPr>
              <a:t>Confirm internal naming, commercial model, and the lead practice. Resolve IP-clearance for the reference assets so they can be demonstrated externally.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7258" y="1691640"/>
            <a:ext cx="363717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05858" y="192024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5858" y="19202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5938" y="1984248"/>
            <a:ext cx="2585618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A0F40"/>
                </a:solidFill>
                <a:latin typeface="Calibri"/>
              </a:rPr>
              <a:t>Targeted Circana intro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5858" y="2697480"/>
            <a:ext cx="3225698" cy="2057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55"/>
                </a:solidFill>
                <a:latin typeface="Calibri"/>
              </a:rPr>
              <a:t>Request a 45-minute working session with Liquid AI product leadership and one Client Services VP. Lead with a use case #1 demo on a public CPG dataset (or synthetic panel) reskinned in Circana branding.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316" y="1691640"/>
            <a:ext cx="363717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5916" y="192024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5916" y="19202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5996" y="1984248"/>
            <a:ext cx="2585618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A0F40"/>
                </a:solidFill>
                <a:latin typeface="Calibri"/>
              </a:rPr>
              <a:t>Reference-client lining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5916" y="2697480"/>
            <a:ext cx="3225698" cy="2057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55"/>
                </a:solidFill>
                <a:latin typeface="Calibri"/>
              </a:rPr>
              <a:t>Identify 2 CPG / GM clients who would co-pilot. Their participation de-risks the Circana commercial conversation and makes the PoV self-funding.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212080"/>
            <a:ext cx="11277295" cy="1097280"/>
          </a:xfrm>
          <a:prstGeom prst="roundRect">
            <a:avLst>
              <a:gd name="adj" fmla="val 4000"/>
            </a:avLst>
          </a:prstGeom>
          <a:ln>
            <a:noFill/>
          </a:ln>
          <a:effectLst/>
          <a:gradFill flip="none" rotWithShape="1">
            <a:gsLst>
              <a:gs pos="0">
                <a:srgbClr val="2A0F40"/>
              </a:gs>
              <a:gs pos="55000">
                <a:srgbClr val="6B2C8E"/>
              </a:gs>
              <a:gs pos="100000">
                <a:srgbClr val="C8389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376672"/>
            <a:ext cx="108200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Ready when you are.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779008"/>
            <a:ext cx="1082009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AI for BI  ·  Market Insights Acceleration for Circana  ·  Pitch Brief, May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4A4A55"/>
                </a:solidFill>
                <a:latin typeface="Calibri"/>
              </a:rPr>
              <a:t>AI for BI  |  Market Insights Acceleration for Circana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5836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4A4A55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2194560" cy="411480"/>
          </a:xfrm>
          <a:prstGeom prst="roundRect">
            <a:avLst>
              <a:gd name="adj" fmla="val 30000"/>
            </a:avLst>
          </a:prstGeom>
          <a:solidFill>
            <a:srgbClr val="1B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OPERATIVO  ·  CONGRESS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347472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1B1B22"/>
                </a:solidFill>
                <a:latin typeface="Calibri"/>
              </a:rPr>
              <a:t>Probabilistic Project Intelligence for Pharma Congress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9525"/>
          </a:xfrm>
          <a:prstGeom prst="rect">
            <a:avLst/>
          </a:prstGeom>
          <a:solidFill>
            <a:srgbClr val="E8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erativ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11480"/>
            <a:ext cx="2444015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55"/>
                </a:solidFill>
                <a:latin typeface="Calibri"/>
              </a:rPr>
              <a:t>Microsoft Planner sync + Monte Carlo + Markov chain task simulator + AI suggestion engine, purpose-built for the 18-24 month congress / event planning cycle.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63717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73152" cy="3108960"/>
          </a:xfrm>
          <a:prstGeom prst="rect">
            <a:avLst/>
          </a:prstGeom>
          <a:solidFill>
            <a:srgbClr val="6FC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327141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B1B22"/>
                </a:solidFill>
                <a:latin typeface="Calibri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3271418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55"/>
                </a:solidFill>
                <a:latin typeface="Calibri"/>
              </a:rPr>
              <a:t>Pharma medical-affairs congresses are 18-24 month, multi-stakeholder, high-stakes programs. 30%+ of critical milestones slip; visibility is fragmented across MS Planner, Teams, email, and ad-hoc trackers.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7258" y="1554480"/>
            <a:ext cx="363717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7258" y="1554480"/>
            <a:ext cx="73152" cy="3108960"/>
          </a:xfrm>
          <a:prstGeom prst="rect">
            <a:avLst/>
          </a:prstGeom>
          <a:solidFill>
            <a:srgbClr val="6FC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5858" y="1755648"/>
            <a:ext cx="327141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B1B22"/>
                </a:solidFill>
                <a:latin typeface="Calibri"/>
              </a:rPr>
              <a:t>The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5858" y="2331720"/>
            <a:ext cx="3271418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55"/>
                </a:solidFill>
                <a:latin typeface="Calibri"/>
              </a:rPr>
              <a:t>A bidirectional bridge over Microsoft Planner that adds Monte Carlo timeline simulation, Markov-chain task-state modelling, AI-driven risk scoring, and an attention dashboard that surfaces blockers, overdue tasks, and critical-path items in real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316" y="1554480"/>
            <a:ext cx="363717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7316" y="1554480"/>
            <a:ext cx="73152" cy="3108960"/>
          </a:xfrm>
          <a:prstGeom prst="rect">
            <a:avLst/>
          </a:prstGeom>
          <a:solidFill>
            <a:srgbClr val="6FC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5916" y="1755648"/>
            <a:ext cx="327141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B1B22"/>
                </a:solidFill>
                <a:latin typeface="Calibri"/>
              </a:rPr>
              <a:t>Target Buyer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916" y="2331720"/>
            <a:ext cx="3271418" cy="2103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55"/>
                </a:solidFill>
                <a:latin typeface="Calibri"/>
              </a:rPr>
              <a:t>Medical Affairs Congress Ops Lead, Event Director, and Program Manager at Top-20 pharma manufacturers - the team that owns a calendar of 50-200 congresses a year and lives in MS Planner today.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B1B22"/>
                </a:solidFill>
                <a:latin typeface="Calibri"/>
              </a:rPr>
              <a:t>TECH STACK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257800"/>
            <a:ext cx="3566160" cy="292608"/>
          </a:xfrm>
          <a:prstGeom prst="roundRect">
            <a:avLst>
              <a:gd name="adj" fmla="val 30000"/>
            </a:avLst>
          </a:prstGeom>
          <a:solidFill>
            <a:srgbClr val="FEF8EB"/>
          </a:solidFill>
          <a:ln w="9525">
            <a:solidFill>
              <a:srgbClr val="E8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257800"/>
            <a:ext cx="35661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B1B22"/>
                </a:solidFill>
                <a:latin typeface="Calibri"/>
              </a:rPr>
              <a:t>MS Graph API (Planner / Teams)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6512" y="5257800"/>
            <a:ext cx="3922776" cy="292608"/>
          </a:xfrm>
          <a:prstGeom prst="roundRect">
            <a:avLst>
              <a:gd name="adj" fmla="val 30000"/>
            </a:avLst>
          </a:prstGeom>
          <a:solidFill>
            <a:srgbClr val="FEF8EB"/>
          </a:solidFill>
          <a:ln w="9525">
            <a:solidFill>
              <a:srgbClr val="E8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96512" y="5257800"/>
            <a:ext cx="3922776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B1B22"/>
                </a:solidFill>
                <a:latin typeface="Calibri"/>
              </a:rPr>
              <a:t>Monte Carlo + Markov-chain engine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5257800"/>
            <a:ext cx="3566160" cy="292608"/>
          </a:xfrm>
          <a:prstGeom prst="roundRect">
            <a:avLst>
              <a:gd name="adj" fmla="val 30000"/>
            </a:avLst>
          </a:prstGeom>
          <a:solidFill>
            <a:srgbClr val="FEF8EB"/>
          </a:solidFill>
          <a:ln w="9525">
            <a:solidFill>
              <a:srgbClr val="E8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5257800"/>
            <a:ext cx="35661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B1B22"/>
                </a:solidFill>
                <a:latin typeface="Calibri"/>
              </a:rPr>
              <a:t>Knowledge Graph semantic layer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731752" y="52578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FEF8EB"/>
          </a:solidFill>
          <a:ln w="9525">
            <a:solidFill>
              <a:srgbClr val="E8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31752" y="5257800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B1B22"/>
                </a:solidFill>
                <a:latin typeface="Calibri"/>
              </a:rPr>
              <a:t>Malloy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267944" y="5257800"/>
            <a:ext cx="1901952" cy="292608"/>
          </a:xfrm>
          <a:prstGeom prst="roundRect">
            <a:avLst>
              <a:gd name="adj" fmla="val 30000"/>
            </a:avLst>
          </a:prstGeom>
          <a:solidFill>
            <a:srgbClr val="FEF8EB"/>
          </a:solidFill>
          <a:ln w="9525">
            <a:solidFill>
              <a:srgbClr val="E8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67944" y="5257800"/>
            <a:ext cx="1901952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B1B22"/>
                </a:solidFill>
                <a:latin typeface="Calibri"/>
              </a:rPr>
              <a:t>Python + FastAPI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243048" y="5257800"/>
            <a:ext cx="2020824" cy="292608"/>
          </a:xfrm>
          <a:prstGeom prst="roundRect">
            <a:avLst>
              <a:gd name="adj" fmla="val 30000"/>
            </a:avLst>
          </a:prstGeom>
          <a:solidFill>
            <a:srgbClr val="FEF8EB"/>
          </a:solidFill>
          <a:ln w="9525">
            <a:solidFill>
              <a:srgbClr val="E8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243048" y="5257800"/>
            <a:ext cx="2020824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B1B22"/>
                </a:solidFill>
                <a:latin typeface="Calibri"/>
              </a:rPr>
              <a:t>Next.js front-end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337024" y="5257800"/>
            <a:ext cx="3685032" cy="292608"/>
          </a:xfrm>
          <a:prstGeom prst="roundRect">
            <a:avLst>
              <a:gd name="adj" fmla="val 30000"/>
            </a:avLst>
          </a:prstGeom>
          <a:solidFill>
            <a:srgbClr val="FEF8EB"/>
          </a:solidFill>
          <a:ln w="9525">
            <a:solidFill>
              <a:srgbClr val="E8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337024" y="5257800"/>
            <a:ext cx="3685032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1B1B22"/>
                </a:solidFill>
                <a:latin typeface="Calibri"/>
              </a:rPr>
              <a:t>AWS Bedrock-ready agent runtime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760720"/>
            <a:ext cx="11277295" cy="777240"/>
          </a:xfrm>
          <a:prstGeom prst="roundRect">
            <a:avLst>
              <a:gd name="adj" fmla="val 4000"/>
            </a:avLst>
          </a:prstGeom>
          <a:ln>
            <a:noFill/>
          </a:ln>
          <a:effectLst/>
          <a:gradFill flip="none" rotWithShape="1">
            <a:gsLst>
              <a:gs pos="0">
                <a:srgbClr val="1B1B22"/>
              </a:gs>
              <a:gs pos="50000">
                <a:srgbClr val="FF7A3D"/>
              </a:gs>
              <a:gs pos="100000">
                <a:srgbClr val="FAB617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870448"/>
            <a:ext cx="1072865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What MS Planner gives you is a task list. Congress Twin gives you a probability distribution.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172200"/>
            <a:ext cx="1072865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Stop reacting to overdue items. Start managing the congress against its forecast.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8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4A4A55"/>
                </a:solidFill>
                <a:latin typeface="Calibri"/>
              </a:rPr>
              <a:t>Portfolio Pitch Deck  ·  Multi-client AI accelerators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2895" y="65836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4A4A55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2194560" cy="411480"/>
          </a:xfrm>
          <a:prstGeom prst="roundRect">
            <a:avLst>
              <a:gd name="adj" fmla="val 30000"/>
            </a:avLst>
          </a:prstGeom>
          <a:solidFill>
            <a:srgbClr val="1B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OPERATIVO  ·  CONGRESS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347472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1B1B22"/>
                </a:solidFill>
                <a:latin typeface="Calibri"/>
              </a:rPr>
              <a:t>What We Bring to Their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9525"/>
          </a:xfrm>
          <a:prstGeom prst="rect">
            <a:avLst/>
          </a:prstGeom>
          <a:solidFill>
            <a:srgbClr val="E8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55"/>
                </a:solidFill>
                <a:latin typeface="Calibri"/>
              </a:rPr>
              <a:t>Three concrete outcomes a Congress Ops lead can put on a quarterly board slide within 90 days of go-live.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363717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3637178" cy="73152"/>
          </a:xfrm>
          <a:prstGeom prst="rect">
            <a:avLst/>
          </a:prstGeom>
          <a:solidFill>
            <a:srgbClr val="F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3271418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7A3D"/>
                </a:solidFill>
                <a:latin typeface="Calibri"/>
              </a:rP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327141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B1B22"/>
                </a:solidFill>
                <a:latin typeface="Calibri"/>
              </a:rPr>
              <a:t>Reduction in planning cycle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3271418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4A55"/>
                </a:solidFill>
                <a:latin typeface="Calibri"/>
              </a:rPr>
              <a:t>Example: a 22-month congress program with 240 tasks. The AI suggestion engine flagged 18 reassignment opportunities (over-loaded owners, mis-routed approvals) and Monte Carlo simulation re-baselined the timeline within an hour - work that previously took a planner two weeks of stakeholder calls.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7258" y="1554480"/>
            <a:ext cx="363717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7258" y="1554480"/>
            <a:ext cx="3637178" cy="73152"/>
          </a:xfrm>
          <a:prstGeom prst="rect">
            <a:avLst/>
          </a:prstGeom>
          <a:solidFill>
            <a:srgbClr val="F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5858" y="1783080"/>
            <a:ext cx="3271418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7A3D"/>
                </a:solidFill>
                <a:latin typeface="Calibri"/>
              </a:rPr>
              <a:t>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5858" y="2578608"/>
            <a:ext cx="327141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B1B22"/>
                </a:solidFill>
                <a:latin typeface="Calibri"/>
              </a:rPr>
              <a:t>Monte Carlo simulations per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5858" y="3017520"/>
            <a:ext cx="3271418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4A55"/>
                </a:solidFill>
                <a:latin typeface="Calibri"/>
              </a:rPr>
              <a:t>Example: a congress on the critical path to a regulatory filing. Probabilistic completion windows let the team commit to P85 dates with confidence instead of single-point estimates - and triggered automated escalation when P50 slipped by more than 3 days.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1554480"/>
            <a:ext cx="363717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1554480"/>
            <a:ext cx="3637178" cy="73152"/>
          </a:xfrm>
          <a:prstGeom prst="rect">
            <a:avLst/>
          </a:prstGeom>
          <a:solidFill>
            <a:srgbClr val="F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5916" y="1783080"/>
            <a:ext cx="3271418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7A3D"/>
                </a:solidFill>
                <a:latin typeface="Calibri"/>
              </a:rPr>
              <a:t>Real-time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5916" y="2578608"/>
            <a:ext cx="327141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B1B22"/>
                </a:solidFill>
                <a:latin typeface="Calibri"/>
              </a:rPr>
              <a:t>Risk scoring on every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5916" y="3017520"/>
            <a:ext cx="3271418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4A55"/>
                </a:solidFill>
                <a:latin typeface="Calibri"/>
              </a:rPr>
              <a:t>Example: a regulator-facing deliverable scored 87/100 risk on Friday afternoon based on dependency state + assignee workload + historical pattern. The system proposed two alternative owners; the Ops Lead approved the reassignment in one click and the score fell to 31/100 the same day.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532120"/>
            <a:ext cx="11277295" cy="960120"/>
          </a:xfrm>
          <a:prstGeom prst="roundRect">
            <a:avLst>
              <a:gd name="adj" fmla="val 4000"/>
            </a:avLst>
          </a:prstGeom>
          <a:solidFill>
            <a:srgbClr val="FEF8EB"/>
          </a:solidFill>
          <a:ln w="9525">
            <a:solidFill>
              <a:srgbClr val="E8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641848"/>
            <a:ext cx="108200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B1B22"/>
                </a:solidFill>
                <a:latin typeface="Calibri"/>
              </a:rPr>
              <a:t>ENGAGEMENT  ·  8-WEEK PROOF-OF-VALUE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943600"/>
            <a:ext cx="1082009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A4A55"/>
                </a:solidFill>
                <a:latin typeface="Calibri"/>
              </a:rPr>
              <a:t>Weeks 1-2: connect to one live congress in MS Planner.  Weeks 3-6: run Monte Carlo + risk-scoring against historical data.  Weeks 7-8: deliver attention dashboard and a side-by-side comparison against the planner-only baseline.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8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4A4A55"/>
                </a:solidFill>
                <a:latin typeface="Calibri"/>
              </a:rPr>
              <a:t>Portfolio Pitch Deck  ·  Multi-client AI accelerators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5836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4A4A55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2194560" cy="411480"/>
          </a:xfrm>
          <a:prstGeom prst="roundRect">
            <a:avLst>
              <a:gd name="adj" fmla="val 30000"/>
            </a:avLst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GSK 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347472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D2D2D"/>
                </a:solidFill>
                <a:latin typeface="Calibri"/>
              </a:rPr>
              <a:t>AI-Led Compression of the Drug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S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292608"/>
            <a:ext cx="1065475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A three-module accelerator across Discovery, Clinical, and Pharmacovigilance - inspired by Novo Nordisk's published compression of LPLV-to-filing cycle time, oriented around the R&amp;D / Clinical / Safety leadership at GSK.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637178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73152" cy="3200400"/>
          </a:xfrm>
          <a:prstGeom prst="rect">
            <a:avLst/>
          </a:prstGeom>
          <a:solidFill>
            <a:srgbClr val="F3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327141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The Reference 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3271418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Novo Nordisk publicly compressed Last-Patient-Last-Visit to filing materially with AI applied across data lock, CSR drafting, and submission readiness. GSK has the appetite, the data, and the talent - this accelerator is the playbook.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7258" y="1554480"/>
            <a:ext cx="3637178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7258" y="1554480"/>
            <a:ext cx="73152" cy="3200400"/>
          </a:xfrm>
          <a:prstGeom prst="rect">
            <a:avLst/>
          </a:prstGeom>
          <a:solidFill>
            <a:srgbClr val="F3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5858" y="1755648"/>
            <a:ext cx="327141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The Product (3 Modules)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5858" y="2331720"/>
            <a:ext cx="3271418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DISCOVERY: target identification + de novo molecule design + structure panel.  CLINICAL: LPLV -&gt; DB Lock -&gt; CSR draft, with cycle-time savings by stage and a submission-gap auditor.  PHARMACOVIGILANCE: multi-channel ICSR intake, signal detection map, PSUR co-pilot, literature monitoring.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316" y="1554480"/>
            <a:ext cx="3637178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7316" y="1554480"/>
            <a:ext cx="73152" cy="3200400"/>
          </a:xfrm>
          <a:prstGeom prst="rect">
            <a:avLst/>
          </a:prstGeom>
          <a:solidFill>
            <a:srgbClr val="F3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5916" y="1755648"/>
            <a:ext cx="327141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Target Buyer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916" y="2331720"/>
            <a:ext cx="3271418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Chief Medical Officer, Head of R&amp;D, Head of Clinical Operations, Head of Pharmacovigilance at GSK. Cross-functional but anchored in Clinical as the first vertical.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D2D2D"/>
                </a:solidFill>
                <a:latin typeface="Calibri"/>
              </a:rPr>
              <a:t>LIFECYCLE COVERAGE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49240"/>
            <a:ext cx="2682163" cy="164592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FAA33"/>
              </a:gs>
              <a:gs pos="50000">
                <a:srgbClr val="F36633"/>
              </a:gs>
              <a:gs pos="100000">
                <a:srgbClr val="E03C3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5513832"/>
            <a:ext cx="2682163" cy="7040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577840"/>
            <a:ext cx="249928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2D2D"/>
                </a:solidFill>
                <a:latin typeface="Calibri"/>
              </a:rPr>
              <a:t>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79592"/>
            <a:ext cx="249928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Target ID  ·  De novo design  ·  Structure panel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22243" y="5349240"/>
            <a:ext cx="2682163" cy="164592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FAA33"/>
              </a:gs>
              <a:gs pos="50000">
                <a:srgbClr val="F36633"/>
              </a:gs>
              <a:gs pos="100000">
                <a:srgbClr val="E03C3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22243" y="5513832"/>
            <a:ext cx="2682163" cy="7040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3683" y="5577840"/>
            <a:ext cx="249928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2D2D"/>
                </a:solidFill>
                <a:latin typeface="Calibri"/>
              </a:rPr>
              <a:t>Clinical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3683" y="5879592"/>
            <a:ext cx="249928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LPLV  ·  DB Lock  ·  CSR draft  ·  Submission audit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87287" y="5349240"/>
            <a:ext cx="2682163" cy="164592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FAA33"/>
              </a:gs>
              <a:gs pos="50000">
                <a:srgbClr val="F36633"/>
              </a:gs>
              <a:gs pos="100000">
                <a:srgbClr val="E03C3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87287" y="5513832"/>
            <a:ext cx="2682163" cy="7040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8727" y="5577840"/>
            <a:ext cx="249928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2D2D"/>
                </a:solidFill>
                <a:latin typeface="Calibri"/>
              </a:rPr>
              <a:t>Pharmacovigilance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8727" y="5879592"/>
            <a:ext cx="249928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ICSR intake  ·  Signal detection  ·  PSUR  ·  Literature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331" y="5349240"/>
            <a:ext cx="2682163" cy="164592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FAA33"/>
              </a:gs>
              <a:gs pos="50000">
                <a:srgbClr val="F36633"/>
              </a:gs>
              <a:gs pos="100000">
                <a:srgbClr val="E03C3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52331" y="5513832"/>
            <a:ext cx="2682163" cy="7040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3771" y="5577840"/>
            <a:ext cx="249928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2D2D"/>
                </a:solidFill>
                <a:latin typeface="Calibri"/>
              </a:rPr>
              <a:t>Connectors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3771" y="5879592"/>
            <a:ext cx="249928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Calibri"/>
              </a:rPr>
              <a:t>Internal + external + model-layer integration ecosystem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4A4A55"/>
                </a:solidFill>
                <a:latin typeface="Calibri"/>
              </a:rPr>
              <a:t>Portfolio Pitch Deck  ·  Multi-client AI accelerators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2895" y="65836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4A4A55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2194560" cy="411480"/>
          </a:xfrm>
          <a:prstGeom prst="roundRect">
            <a:avLst>
              <a:gd name="adj" fmla="val 30000"/>
            </a:avLst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GSK 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347472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2D2D2D"/>
                </a:solidFill>
                <a:latin typeface="Calibri"/>
              </a:rPr>
              <a:t>What We Bring to Their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952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Three measurable wins a GSK R&amp;D leader can land within a single year, with concrete worked examples.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3637178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3637178" cy="73152"/>
          </a:xfrm>
          <a:prstGeom prst="rect">
            <a:avLst/>
          </a:prstGeom>
          <a:solidFill>
            <a:srgbClr val="F3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3271418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03C31"/>
                </a:solidFill>
                <a:latin typeface="Calibri"/>
              </a:rPr>
              <a:t>60d -&gt; 18d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33472"/>
            <a:ext cx="327141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2D2D"/>
                </a:solidFill>
                <a:latin typeface="Calibri"/>
              </a:rPr>
              <a:t>LPLV to DB Lock cycle compression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3271418" cy="1783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Example: the Clinical co-pilot ingests query backlog + EDC audit trail + data-management SOPs and auto-drafts ~70% of the data-cleaning queries. The DM team approves, edits, and routes - data lock happens in weeks not months. This is the single biggest cycle-time lever Novo Nordisk publicly cited.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7258" y="1554480"/>
            <a:ext cx="3637178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7258" y="1554480"/>
            <a:ext cx="3637178" cy="73152"/>
          </a:xfrm>
          <a:prstGeom prst="rect">
            <a:avLst/>
          </a:prstGeom>
          <a:solidFill>
            <a:srgbClr val="F3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5858" y="1828800"/>
            <a:ext cx="3271418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03C31"/>
                </a:solidFill>
                <a:latin typeface="Calibri"/>
              </a:rPr>
              <a:t>CSR Co-Pilot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5858" y="2633472"/>
            <a:ext cx="327141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2D2D"/>
                </a:solidFill>
                <a:latin typeface="Calibri"/>
              </a:rPr>
              <a:t>First draft Clinical Study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5858" y="3063240"/>
            <a:ext cx="3271418" cy="1783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Example: SAP + TFL outputs + protocol go in; a structured first-draft CSR (Sections 9-16) comes out, with deviation rationale templates, AE summary narrative, and submission-gap audit. Medical writers move from blank-page drafting to editorial review - the highest-value use of their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1554480"/>
            <a:ext cx="3637178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1554480"/>
            <a:ext cx="3637178" cy="73152"/>
          </a:xfrm>
          <a:prstGeom prst="rect">
            <a:avLst/>
          </a:prstGeom>
          <a:solidFill>
            <a:srgbClr val="F3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5916" y="1828800"/>
            <a:ext cx="3271418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E03C31"/>
                </a:solidFill>
                <a:latin typeface="Calibri"/>
              </a:rPr>
              <a:t>Early 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5916" y="2633472"/>
            <a:ext cx="327141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2D2D"/>
                </a:solidFill>
                <a:latin typeface="Calibri"/>
              </a:rPr>
              <a:t>Multi-channel pharmacovigilance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5916" y="3063240"/>
            <a:ext cx="3271418" cy="1783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Example: spontaneous reports + EHR + literature + social are ingested in parallel; the signal-detection map flags an emerging adverse event 4-6 weeks earlier than the traditional periodic review would. The PSUR co-pilot drafts the regulator-facing narrative the same week.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4000"/>
            </a:avLst>
          </a:prstGeom>
          <a:ln>
            <a:noFill/>
          </a:ln>
          <a:effectLst/>
          <a:gradFill flip="none" rotWithShape="1">
            <a:gsLst>
              <a:gs pos="0">
                <a:srgbClr val="2D2D2D"/>
              </a:gs>
              <a:gs pos="50000">
                <a:srgbClr val="F36633"/>
              </a:gs>
              <a:gs pos="100000">
                <a:srgbClr val="E03C3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733288"/>
            <a:ext cx="108200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ENGAGEMENT  ·  12-WEEK CLINICAL-FIRST VERTICAL 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035040"/>
            <a:ext cx="10820095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Land on Clinical (LPLV -&gt; DB Lock -&gt; CSR), prove cycle-time savings on one therapy area, then expand to Discovery and Pharmacovigilance in subsequent quarters.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4A4A55"/>
                </a:solidFill>
                <a:latin typeface="Calibri"/>
              </a:rPr>
              <a:t>Portfolio Pitch Deck  ·  Multi-client AI accelerators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5836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4A4A55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